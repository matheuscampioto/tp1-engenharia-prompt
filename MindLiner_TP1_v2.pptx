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D0D0D"/>
          </a:solidFill>
          <a:ln w="12700">
            <a:solidFill>
              <a:srgbClr val="0D0D0D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2011680"/>
            <a:ext cx="9144000" cy="36576"/>
          </a:xfrm>
          <a:prstGeom prst="rect">
            <a:avLst/>
          </a:prstGeom>
          <a:solidFill>
            <a:srgbClr val="FF6B00"/>
          </a:solidFill>
          <a:ln w="12700">
            <a:solidFill>
              <a:srgbClr val="FF6B0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48640" y="914400"/>
            <a:ext cx="80467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MindLiner AI Agent</a:t>
            </a:r>
            <a:endParaRPr lang="en-US" sz="4400" dirty="0"/>
          </a:p>
        </p:txBody>
      </p:sp>
      <p:sp>
        <p:nvSpPr>
          <p:cNvPr id="5" name="Text 3"/>
          <p:cNvSpPr/>
          <p:nvPr/>
        </p:nvSpPr>
        <p:spPr>
          <a:xfrm>
            <a:off x="548640" y="1691640"/>
            <a:ext cx="8046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AAAA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Engenharia de Prompt e Contexto na Prática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548640" y="2286000"/>
            <a:ext cx="8046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AAAA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Trabalho Prático 1  •  Unicesumar  •  2026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548640" y="2834640"/>
            <a:ext cx="8046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6B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Modelo: Gemini 2.5 Flash  •  Ferramenta: Google AI Studio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548640" y="4206240"/>
            <a:ext cx="8046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AAAA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Matheus Campioto  •  Vinicius Seifert  •  Lauren Kunz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D0D0D"/>
          </a:solidFill>
          <a:ln w="12700">
            <a:solidFill>
              <a:srgbClr val="0D0D0D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74320"/>
            <a:ext cx="2286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00" b="1" spc="200" kern="0" dirty="0">
                <a:solidFill>
                  <a:srgbClr val="FF6B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 QUE FIZEMOS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457200" y="502920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Prototipamos o Agente de IA do MindLiner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274320" y="1280160"/>
            <a:ext cx="2743200" cy="2560320"/>
          </a:xfrm>
          <a:prstGeom prst="roundRect">
            <a:avLst>
              <a:gd name="adj" fmla="val 3571"/>
            </a:avLst>
          </a:prstGeom>
          <a:solidFill>
            <a:srgbClr val="1A1A1A"/>
          </a:solidFill>
          <a:ln w="12700">
            <a:solidFill>
              <a:srgbClr val="2A2A2A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74320" y="1280160"/>
            <a:ext cx="2743200" cy="36576"/>
          </a:xfrm>
          <a:prstGeom prst="rect">
            <a:avLst/>
          </a:prstGeom>
          <a:solidFill>
            <a:srgbClr val="FF6B00"/>
          </a:solidFill>
          <a:ln w="12700">
            <a:solidFill>
              <a:srgbClr val="FF6B0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11480" y="137160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6B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①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411480" y="1874520"/>
            <a:ext cx="2468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System Prompt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411480" y="2331720"/>
            <a:ext cx="24688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AAA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Definido e documentado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AAAA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antes de qualquer chamada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200400" y="1280160"/>
            <a:ext cx="2743200" cy="2560320"/>
          </a:xfrm>
          <a:prstGeom prst="roundRect">
            <a:avLst>
              <a:gd name="adj" fmla="val 3571"/>
            </a:avLst>
          </a:prstGeom>
          <a:solidFill>
            <a:srgbClr val="1A1A1A"/>
          </a:solidFill>
          <a:ln w="12700">
            <a:solidFill>
              <a:srgbClr val="2A2A2A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3200400" y="1280160"/>
            <a:ext cx="2743200" cy="36576"/>
          </a:xfrm>
          <a:prstGeom prst="rect">
            <a:avLst/>
          </a:prstGeom>
          <a:solidFill>
            <a:srgbClr val="FF6B00"/>
          </a:solidFill>
          <a:ln w="12700">
            <a:solidFill>
              <a:srgbClr val="FF6B0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337560" y="137160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6B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②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3337560" y="1874520"/>
            <a:ext cx="2468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Few-Shot + JSON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3337560" y="2331720"/>
            <a:ext cx="24688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AAA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Técnica aplicada com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AAAA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exemplos e justificativa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6126480" y="1280160"/>
            <a:ext cx="2743200" cy="2560320"/>
          </a:xfrm>
          <a:prstGeom prst="roundRect">
            <a:avLst>
              <a:gd name="adj" fmla="val 3571"/>
            </a:avLst>
          </a:prstGeom>
          <a:solidFill>
            <a:srgbClr val="1A1A1A"/>
          </a:solidFill>
          <a:ln w="12700">
            <a:solidFill>
              <a:srgbClr val="2A2A2A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6126480" y="1280160"/>
            <a:ext cx="2743200" cy="36576"/>
          </a:xfrm>
          <a:prstGeom prst="rect">
            <a:avLst/>
          </a:prstGeom>
          <a:solidFill>
            <a:srgbClr val="FF6B00"/>
          </a:solidFill>
          <a:ln w="12700">
            <a:solidFill>
              <a:srgbClr val="FF6B0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263640" y="137160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6B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③</a:t>
            </a:r>
            <a:endParaRPr lang="en-US" sz="2000" dirty="0"/>
          </a:p>
        </p:txBody>
      </p:sp>
      <p:sp>
        <p:nvSpPr>
          <p:cNvPr id="18" name="Text 16"/>
          <p:cNvSpPr/>
          <p:nvPr/>
        </p:nvSpPr>
        <p:spPr>
          <a:xfrm>
            <a:off x="6263640" y="1874520"/>
            <a:ext cx="2468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Curadoria de Contexto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6263640" y="2331720"/>
            <a:ext cx="24688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AAA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Chamada A vs B vs C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AAAA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Redução de 65% nos tokens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457200" y="4480560"/>
            <a:ext cx="8229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AAA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Modelo: Gemini 2.5 Flash  •  Ferramenta: Google AI Studio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D0D0D"/>
          </a:solidFill>
          <a:ln w="12700">
            <a:solidFill>
              <a:srgbClr val="0D0D0D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74320"/>
            <a:ext cx="2286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00" b="1" spc="200" kern="0" dirty="0">
                <a:solidFill>
                  <a:srgbClr val="FF6B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 PROJETO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457200" y="502920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MindLiner — Sistema de Apoio ao Estudo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274320" y="1280160"/>
            <a:ext cx="4023360" cy="2926080"/>
          </a:xfrm>
          <a:prstGeom prst="roundRect">
            <a:avLst>
              <a:gd name="adj" fmla="val 3125"/>
            </a:avLst>
          </a:prstGeom>
          <a:solidFill>
            <a:srgbClr val="1A1A1A"/>
          </a:solidFill>
          <a:ln w="12700">
            <a:solidFill>
              <a:srgbClr val="2A2A2A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74320" y="1280160"/>
            <a:ext cx="4023360" cy="36576"/>
          </a:xfrm>
          <a:prstGeom prst="rect">
            <a:avLst/>
          </a:prstGeom>
          <a:solidFill>
            <a:srgbClr val="FF6B00"/>
          </a:solidFill>
          <a:ln w="12700">
            <a:solidFill>
              <a:srgbClr val="FF6B0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137160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FF6B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Feature Prototipada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457200" y="1737360"/>
            <a:ext cx="3657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Agente de Inteligência Artificial</a:t>
            </a:r>
            <a:endParaRPr lang="en-US" sz="1500" dirty="0"/>
          </a:p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(RF-041 a RF-044)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457200" y="2423160"/>
            <a:ext cx="3657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AAAA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 agente recebe dados do usuário e retorna método de estudo + meta personalizados em formato JSON.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572000" y="1280160"/>
            <a:ext cx="4206240" cy="2926080"/>
          </a:xfrm>
          <a:prstGeom prst="roundRect">
            <a:avLst>
              <a:gd name="adj" fmla="val 3125"/>
            </a:avLst>
          </a:prstGeom>
          <a:solidFill>
            <a:srgbClr val="1A1A1A"/>
          </a:solidFill>
          <a:ln w="12700">
            <a:solidFill>
              <a:srgbClr val="2A2A2A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572000" y="1280160"/>
            <a:ext cx="4206240" cy="36576"/>
          </a:xfrm>
          <a:prstGeom prst="rect">
            <a:avLst/>
          </a:prstGeom>
          <a:solidFill>
            <a:srgbClr val="FF6B00"/>
          </a:solidFill>
          <a:ln w="12700">
            <a:solidFill>
              <a:srgbClr val="FF6B0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754880" y="1371600"/>
            <a:ext cx="3840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FF6B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Regras de Negócio Aplicadas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4754880" y="1783080"/>
            <a:ext cx="54864" cy="274320"/>
          </a:xfrm>
          <a:prstGeom prst="rect">
            <a:avLst/>
          </a:prstGeom>
          <a:solidFill>
            <a:srgbClr val="FF6B00"/>
          </a:solidFill>
          <a:ln w="12700">
            <a:solidFill>
              <a:srgbClr val="FF6B0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919472" y="178308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RB-036: Considerar dados do usuário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4754880" y="2313432"/>
            <a:ext cx="54864" cy="274320"/>
          </a:xfrm>
          <a:prstGeom prst="rect">
            <a:avLst/>
          </a:prstGeom>
          <a:solidFill>
            <a:srgbClr val="FF6B00"/>
          </a:solidFill>
          <a:ln w="12700">
            <a:solidFill>
              <a:srgbClr val="FF6B0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919472" y="2313432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RB-037: Usar histórico como base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4754880" y="2843784"/>
            <a:ext cx="54864" cy="274320"/>
          </a:xfrm>
          <a:prstGeom prst="rect">
            <a:avLst/>
          </a:prstGeom>
          <a:solidFill>
            <a:srgbClr val="FF6B00"/>
          </a:solidFill>
          <a:ln w="12700">
            <a:solidFill>
              <a:srgbClr val="FF6B0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919472" y="2843784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RB-038: Não substituir metas manuais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4754880" y="3374136"/>
            <a:ext cx="54864" cy="274320"/>
          </a:xfrm>
          <a:prstGeom prst="rect">
            <a:avLst/>
          </a:prstGeom>
          <a:solidFill>
            <a:srgbClr val="FF6B00"/>
          </a:solidFill>
          <a:ln w="12700">
            <a:solidFill>
              <a:srgbClr val="FF6B0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919472" y="3374136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RB-039: Fins exclusivamente educacionais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D0D0D"/>
          </a:solidFill>
          <a:ln w="12700">
            <a:solidFill>
              <a:srgbClr val="0D0D0D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74320"/>
            <a:ext cx="2286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00" b="1" spc="200" kern="0" dirty="0">
                <a:solidFill>
                  <a:srgbClr val="FF6B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REQUISITO 1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457200" y="50292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System Prompt — Documentado Antes das Chamadas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274320" y="1097280"/>
            <a:ext cx="8595360" cy="2926080"/>
          </a:xfrm>
          <a:prstGeom prst="roundRect">
            <a:avLst>
              <a:gd name="adj" fmla="val 3125"/>
            </a:avLst>
          </a:prstGeom>
          <a:solidFill>
            <a:srgbClr val="1A1A1A"/>
          </a:solidFill>
          <a:ln w="12700">
            <a:solidFill>
              <a:srgbClr val="2A2A2A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74320" y="1097280"/>
            <a:ext cx="8595360" cy="36576"/>
          </a:xfrm>
          <a:prstGeom prst="rect">
            <a:avLst/>
          </a:prstGeom>
          <a:solidFill>
            <a:srgbClr val="FF6B00"/>
          </a:solidFill>
          <a:ln w="12700">
            <a:solidFill>
              <a:srgbClr val="FF6B0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1170432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Você é um agente educacional do MindLiner, sistema de apoio ao estudo.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457200" y="1426464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Seu objetivo é sugerir métodos de estudo e metas personalizadas.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457200" y="1682496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457200" y="1938528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6B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Regras obrigatórias: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457200" y="2194560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 Recomendações com finalidade exclusivamente educacional [RB-039]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457200" y="2450592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 Nunca substituir metas manuais sem autorização explícita [RB-038]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457200" y="2706624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 Usar histórico de estudos como base para personalização [RB-037]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457200" y="2962656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 Considerar todas as informações fornecidas pelo usuário [RB-036]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457200" y="3218688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457200" y="3474720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6B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Responda SEMPRE em JSON válido, sem texto adicional.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457200" y="416052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FF6B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Cada regra rastreável a uma RB do documento de Regras de Negócio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D0D0D"/>
          </a:solidFill>
          <a:ln w="12700">
            <a:solidFill>
              <a:srgbClr val="0D0D0D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74320"/>
            <a:ext cx="2286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00" b="1" spc="200" kern="0" dirty="0">
                <a:solidFill>
                  <a:srgbClr val="FF6B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REQUISITO 2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457200" y="50292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Técnica Aplicada: Few-Shot + JSON Mode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274320" y="1097280"/>
            <a:ext cx="4023360" cy="3017520"/>
          </a:xfrm>
          <a:prstGeom prst="roundRect">
            <a:avLst>
              <a:gd name="adj" fmla="val 3030"/>
            </a:avLst>
          </a:prstGeom>
          <a:solidFill>
            <a:srgbClr val="1A1A1A"/>
          </a:solidFill>
          <a:ln w="12700">
            <a:solidFill>
              <a:srgbClr val="2A2A2A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74320" y="1097280"/>
            <a:ext cx="4023360" cy="36576"/>
          </a:xfrm>
          <a:prstGeom prst="rect">
            <a:avLst/>
          </a:prstGeom>
          <a:solidFill>
            <a:srgbClr val="FF6B00"/>
          </a:solidFill>
          <a:ln w="12700">
            <a:solidFill>
              <a:srgbClr val="FF6B0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118872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6B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 que é Few-Shot?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457200" y="1554480"/>
            <a:ext cx="3657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Fornecer exemplos de entrada/saída dentro do próprio prompt para calibrar o comportamento do modelo.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233172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6B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Por que usamos?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457200" y="2697480"/>
            <a:ext cx="36576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Sem exemplos, o modelo incluía texto fora do JSON. Com 2 exemplos, o JSON saiu consistente e as justificativas passaram a conectar o perfil do usuário à sugestão.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4572000" y="1097280"/>
            <a:ext cx="4206240" cy="3017520"/>
          </a:xfrm>
          <a:prstGeom prst="roundRect">
            <a:avLst>
              <a:gd name="adj" fmla="val 3030"/>
            </a:avLst>
          </a:prstGeom>
          <a:solidFill>
            <a:srgbClr val="0A0A0A"/>
          </a:solidFill>
          <a:ln w="12700">
            <a:solidFill>
              <a:srgbClr val="2A2A2A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572000" y="1097280"/>
            <a:ext cx="4206240" cy="36576"/>
          </a:xfrm>
          <a:prstGeom prst="rect">
            <a:avLst/>
          </a:prstGeom>
          <a:solidFill>
            <a:srgbClr val="FF6B00"/>
          </a:solidFill>
          <a:ln w="12700">
            <a:solidFill>
              <a:srgbClr val="FF6B0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709160" y="1188720"/>
            <a:ext cx="3840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6B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Estrutura do Prompt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4709160" y="1508760"/>
            <a:ext cx="3931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6B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--- EXEMPLO 1 ---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4709160" y="1728216"/>
            <a:ext cx="3931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BC34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Input: { disciplina, horas, dificuldades }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4709160" y="1947672"/>
            <a:ext cx="3931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BC34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Output: { metodo_sugerido, meta_sugerida }</a:t>
            </a:r>
            <a:endParaRPr lang="en-US" sz="950" dirty="0"/>
          </a:p>
        </p:txBody>
      </p:sp>
      <p:sp>
        <p:nvSpPr>
          <p:cNvPr id="17" name="Text 15"/>
          <p:cNvSpPr/>
          <p:nvPr/>
        </p:nvSpPr>
        <p:spPr>
          <a:xfrm>
            <a:off x="4709160" y="2167128"/>
            <a:ext cx="3931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4709160" y="2386584"/>
            <a:ext cx="3931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6B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--- EXEMPLO 2 ---</a:t>
            </a:r>
            <a:endParaRPr lang="en-US" sz="950" dirty="0"/>
          </a:p>
        </p:txBody>
      </p:sp>
      <p:sp>
        <p:nvSpPr>
          <p:cNvPr id="19" name="Text 17"/>
          <p:cNvSpPr/>
          <p:nvPr/>
        </p:nvSpPr>
        <p:spPr>
          <a:xfrm>
            <a:off x="4709160" y="2606040"/>
            <a:ext cx="3931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BC34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Input: { disciplina, horas, dificuldades }</a:t>
            </a:r>
            <a:endParaRPr lang="en-US" sz="950" dirty="0"/>
          </a:p>
        </p:txBody>
      </p:sp>
      <p:sp>
        <p:nvSpPr>
          <p:cNvPr id="20" name="Text 18"/>
          <p:cNvSpPr/>
          <p:nvPr/>
        </p:nvSpPr>
        <p:spPr>
          <a:xfrm>
            <a:off x="4709160" y="2825496"/>
            <a:ext cx="3931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BC34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Output: { metodo_sugerido, meta_sugerida }</a:t>
            </a:r>
            <a:endParaRPr lang="en-US" sz="950" dirty="0"/>
          </a:p>
        </p:txBody>
      </p:sp>
      <p:sp>
        <p:nvSpPr>
          <p:cNvPr id="21" name="Text 19"/>
          <p:cNvSpPr/>
          <p:nvPr/>
        </p:nvSpPr>
        <p:spPr>
          <a:xfrm>
            <a:off x="4709160" y="3044952"/>
            <a:ext cx="3931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sz="950" dirty="0"/>
          </a:p>
        </p:txBody>
      </p:sp>
      <p:sp>
        <p:nvSpPr>
          <p:cNvPr id="22" name="Text 20"/>
          <p:cNvSpPr/>
          <p:nvPr/>
        </p:nvSpPr>
        <p:spPr>
          <a:xfrm>
            <a:off x="4709160" y="3264408"/>
            <a:ext cx="3931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6B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--- AGORA RESPONDA ---</a:t>
            </a:r>
            <a:endParaRPr lang="en-US" sz="950" dirty="0"/>
          </a:p>
        </p:txBody>
      </p:sp>
      <p:sp>
        <p:nvSpPr>
          <p:cNvPr id="23" name="Text 21"/>
          <p:cNvSpPr/>
          <p:nvPr/>
        </p:nvSpPr>
        <p:spPr>
          <a:xfrm>
            <a:off x="4709160" y="3483864"/>
            <a:ext cx="3931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BC34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Input real do usuário...</a:t>
            </a:r>
            <a:endParaRPr lang="en-US" sz="9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D0D0D"/>
          </a:solidFill>
          <a:ln w="12700">
            <a:solidFill>
              <a:srgbClr val="0D0D0D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74320"/>
            <a:ext cx="2286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00" b="1" spc="200" kern="0" dirty="0">
                <a:solidFill>
                  <a:srgbClr val="FF6B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REQUISITO 3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457200" y="50292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Curadoria de Contexto — Mesma Pergunta, Três Contextos</a:t>
            </a:r>
            <a:endParaRPr lang="en-US" sz="2100" dirty="0"/>
          </a:p>
        </p:txBody>
      </p:sp>
      <p:sp>
        <p:nvSpPr>
          <p:cNvPr id="5" name="Shape 3"/>
          <p:cNvSpPr/>
          <p:nvPr/>
        </p:nvSpPr>
        <p:spPr>
          <a:xfrm>
            <a:off x="228600" y="1188720"/>
            <a:ext cx="2743200" cy="2743200"/>
          </a:xfrm>
          <a:prstGeom prst="roundRect">
            <a:avLst>
              <a:gd name="adj" fmla="val 3333"/>
            </a:avLst>
          </a:prstGeom>
          <a:solidFill>
            <a:srgbClr val="1A1A1A"/>
          </a:solidFill>
          <a:ln w="12700">
            <a:solidFill>
              <a:srgbClr val="AA330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28600" y="1188720"/>
            <a:ext cx="2743200" cy="36576"/>
          </a:xfrm>
          <a:prstGeom prst="rect">
            <a:avLst/>
          </a:prstGeom>
          <a:solidFill>
            <a:srgbClr val="AA3300"/>
          </a:solidFill>
          <a:ln w="12700">
            <a:solidFill>
              <a:srgbClr val="AA330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65760" y="1261872"/>
            <a:ext cx="24688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CHAMADA A — Contexto Inflado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365760" y="1719072"/>
            <a:ext cx="24688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AAA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Todos os 59 RFs colados no prompt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365760" y="2011680"/>
            <a:ext cx="24688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AAA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 pergunta do usuário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365760" y="2304288"/>
            <a:ext cx="24688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365760" y="2596896"/>
            <a:ext cx="24688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AAA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1.458 tokens de input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320040" y="3520440"/>
            <a:ext cx="2560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1.458 tokens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3154680" y="1188720"/>
            <a:ext cx="2743200" cy="2743200"/>
          </a:xfrm>
          <a:prstGeom prst="roundRect">
            <a:avLst>
              <a:gd name="adj" fmla="val 3333"/>
            </a:avLst>
          </a:prstGeom>
          <a:solidFill>
            <a:srgbClr val="1A1A1A"/>
          </a:solidFill>
          <a:ln w="12700">
            <a:solidFill>
              <a:srgbClr val="2255AA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3154680" y="1188720"/>
            <a:ext cx="2743200" cy="36576"/>
          </a:xfrm>
          <a:prstGeom prst="rect">
            <a:avLst/>
          </a:prstGeom>
          <a:solidFill>
            <a:srgbClr val="2255AA"/>
          </a:solidFill>
          <a:ln w="12700">
            <a:solidFill>
              <a:srgbClr val="2255A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291840" y="1261872"/>
            <a:ext cx="24688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CHAMADA B — Contexto Cirúrgico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3291840" y="1719072"/>
            <a:ext cx="24688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AAA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Apenas RF-041 a RF-044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3291840" y="2011680"/>
            <a:ext cx="24688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AAA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 RB-036 a RB-039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3291840" y="2304288"/>
            <a:ext cx="24688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AAA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 pergunta do usuário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3291840" y="2596896"/>
            <a:ext cx="24688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3246120" y="3520440"/>
            <a:ext cx="2560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513 tokens</a:t>
            </a:r>
            <a:endParaRPr lang="en-US" sz="1400" dirty="0"/>
          </a:p>
        </p:txBody>
      </p:sp>
      <p:sp>
        <p:nvSpPr>
          <p:cNvPr id="21" name="Shape 19"/>
          <p:cNvSpPr/>
          <p:nvPr/>
        </p:nvSpPr>
        <p:spPr>
          <a:xfrm>
            <a:off x="6080760" y="1188720"/>
            <a:ext cx="2743200" cy="2743200"/>
          </a:xfrm>
          <a:prstGeom prst="roundRect">
            <a:avLst>
              <a:gd name="adj" fmla="val 3333"/>
            </a:avLst>
          </a:prstGeom>
          <a:solidFill>
            <a:srgbClr val="1A1A1A"/>
          </a:solidFill>
          <a:ln w="12700">
            <a:solidFill>
              <a:srgbClr val="226633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6080760" y="1188720"/>
            <a:ext cx="2743200" cy="36576"/>
          </a:xfrm>
          <a:prstGeom prst="rect">
            <a:avLst/>
          </a:prstGeom>
          <a:solidFill>
            <a:srgbClr val="226633"/>
          </a:solidFill>
          <a:ln w="12700">
            <a:solidFill>
              <a:srgbClr val="226633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217920" y="1261872"/>
            <a:ext cx="24688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CHAMADA C — Few-Shot + JSON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6217920" y="1719072"/>
            <a:ext cx="24688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AAA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Contexto cirúrgico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6217920" y="2011680"/>
            <a:ext cx="24688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AAA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+ 2 exemplos few-shot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6217920" y="2304288"/>
            <a:ext cx="24688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AAA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 pergunta do usuário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6217920" y="2596896"/>
            <a:ext cx="24688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6172200" y="3520440"/>
            <a:ext cx="2560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510 tokens</a:t>
            </a:r>
            <a:endParaRPr lang="en-US" sz="1400" dirty="0"/>
          </a:p>
        </p:txBody>
      </p:sp>
      <p:sp>
        <p:nvSpPr>
          <p:cNvPr id="29" name="Shape 27"/>
          <p:cNvSpPr/>
          <p:nvPr/>
        </p:nvSpPr>
        <p:spPr>
          <a:xfrm>
            <a:off x="274320" y="4114800"/>
            <a:ext cx="8595360" cy="548640"/>
          </a:xfrm>
          <a:prstGeom prst="roundRect">
            <a:avLst>
              <a:gd name="adj" fmla="val 8333"/>
            </a:avLst>
          </a:prstGeom>
          <a:solidFill>
            <a:srgbClr val="1A2A1A"/>
          </a:solidFill>
          <a:ln w="12700">
            <a:solidFill>
              <a:srgbClr val="FF6B00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57200" y="416052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6B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Redução de 65% nos tokens de input (Chamada A vs B/C) — qualidade de resposta idêntica nas três chamadas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D0D0D"/>
          </a:solidFill>
          <a:ln w="12700">
            <a:solidFill>
              <a:srgbClr val="0D0D0D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74320"/>
            <a:ext cx="2286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00" b="1" spc="200" kern="0" dirty="0">
                <a:solidFill>
                  <a:srgbClr val="FF6B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REQUISITO 4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457200" y="50292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Cálculo de Custo por Chamada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457200" y="100584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AAAA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Modelo: Gemini 2.5 Flash  •  Input: $0,075/1M tokens  •  Output: $0,30/1M tokens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274320" y="1417320"/>
            <a:ext cx="2286000" cy="320040"/>
          </a:xfrm>
          <a:prstGeom prst="rect">
            <a:avLst/>
          </a:prstGeom>
          <a:solidFill>
            <a:srgbClr val="FF6B00"/>
          </a:solidFill>
          <a:ln w="12700">
            <a:solidFill>
              <a:srgbClr val="FF6B0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74320" y="141732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Chamada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2606040" y="1417320"/>
            <a:ext cx="1463040" cy="320040"/>
          </a:xfrm>
          <a:prstGeom prst="rect">
            <a:avLst/>
          </a:prstGeom>
          <a:solidFill>
            <a:srgbClr val="FF6B00"/>
          </a:solidFill>
          <a:ln w="12700">
            <a:solidFill>
              <a:srgbClr val="FF6B0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606040" y="1417320"/>
            <a:ext cx="1463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Tokens Input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114800" y="1417320"/>
            <a:ext cx="1463040" cy="320040"/>
          </a:xfrm>
          <a:prstGeom prst="rect">
            <a:avLst/>
          </a:prstGeom>
          <a:solidFill>
            <a:srgbClr val="FF6B00"/>
          </a:solidFill>
          <a:ln w="12700">
            <a:solidFill>
              <a:srgbClr val="FF6B0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114800" y="1417320"/>
            <a:ext cx="1463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Tokens Output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5623560" y="1417320"/>
            <a:ext cx="1371600" cy="320040"/>
          </a:xfrm>
          <a:prstGeom prst="rect">
            <a:avLst/>
          </a:prstGeom>
          <a:solidFill>
            <a:srgbClr val="FF6B00"/>
          </a:solidFill>
          <a:ln w="12700">
            <a:solidFill>
              <a:srgbClr val="FF6B0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623560" y="1417320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Custo Input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7040880" y="1417320"/>
            <a:ext cx="1371600" cy="320040"/>
          </a:xfrm>
          <a:prstGeom prst="rect">
            <a:avLst/>
          </a:prstGeom>
          <a:solidFill>
            <a:srgbClr val="FF6B00"/>
          </a:solidFill>
          <a:ln w="12700">
            <a:solidFill>
              <a:srgbClr val="FF6B0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040880" y="1417320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Total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274320" y="1737360"/>
            <a:ext cx="2286000" cy="384048"/>
          </a:xfrm>
          <a:prstGeom prst="rect">
            <a:avLst/>
          </a:prstGeom>
          <a:solidFill>
            <a:srgbClr val="141414"/>
          </a:solidFill>
          <a:ln w="12700">
            <a:solidFill>
              <a:srgbClr val="2A2A2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274320" y="1737360"/>
            <a:ext cx="2286000" cy="384048"/>
          </a:xfrm>
          <a:prstGeom prst="rect">
            <a:avLst/>
          </a:prstGeom>
          <a:noFill/>
          <a:ln/>
        </p:spPr>
        <p:txBody>
          <a:bodyPr wrap="square" lIns="0" tIns="7620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— Ctx. Inflado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2606040" y="1737360"/>
            <a:ext cx="1463040" cy="384048"/>
          </a:xfrm>
          <a:prstGeom prst="rect">
            <a:avLst/>
          </a:prstGeom>
          <a:solidFill>
            <a:srgbClr val="141414"/>
          </a:solidFill>
          <a:ln w="12700">
            <a:solidFill>
              <a:srgbClr val="2A2A2A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2606040" y="1737360"/>
            <a:ext cx="1463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1.458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4114800" y="1737360"/>
            <a:ext cx="1463040" cy="384048"/>
          </a:xfrm>
          <a:prstGeom prst="rect">
            <a:avLst/>
          </a:prstGeom>
          <a:solidFill>
            <a:srgbClr val="141414"/>
          </a:solidFill>
          <a:ln w="12700">
            <a:solidFill>
              <a:srgbClr val="2A2A2A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114800" y="1737360"/>
            <a:ext cx="1463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~200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5623560" y="1737360"/>
            <a:ext cx="1371600" cy="384048"/>
          </a:xfrm>
          <a:prstGeom prst="rect">
            <a:avLst/>
          </a:prstGeom>
          <a:solidFill>
            <a:srgbClr val="141414"/>
          </a:solidFill>
          <a:ln w="12700">
            <a:solidFill>
              <a:srgbClr val="2A2A2A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623560" y="1737360"/>
            <a:ext cx="1371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$0,000109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7040880" y="1737360"/>
            <a:ext cx="1371600" cy="384048"/>
          </a:xfrm>
          <a:prstGeom prst="rect">
            <a:avLst/>
          </a:prstGeom>
          <a:solidFill>
            <a:srgbClr val="141414"/>
          </a:solidFill>
          <a:ln w="12700">
            <a:solidFill>
              <a:srgbClr val="2A2A2A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7040880" y="1737360"/>
            <a:ext cx="1371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$0,000169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274320" y="2121408"/>
            <a:ext cx="2286000" cy="384048"/>
          </a:xfrm>
          <a:prstGeom prst="rect">
            <a:avLst/>
          </a:prstGeom>
          <a:solidFill>
            <a:srgbClr val="1A1A1A"/>
          </a:solidFill>
          <a:ln w="12700">
            <a:solidFill>
              <a:srgbClr val="2A2A2A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274320" y="2121408"/>
            <a:ext cx="2286000" cy="384048"/>
          </a:xfrm>
          <a:prstGeom prst="rect">
            <a:avLst/>
          </a:prstGeom>
          <a:noFill/>
          <a:ln/>
        </p:spPr>
        <p:txBody>
          <a:bodyPr wrap="square" lIns="0" tIns="7620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 — Ctx. Cirúrgico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2606040" y="2121408"/>
            <a:ext cx="1463040" cy="384048"/>
          </a:xfrm>
          <a:prstGeom prst="rect">
            <a:avLst/>
          </a:prstGeom>
          <a:solidFill>
            <a:srgbClr val="1A1A1A"/>
          </a:solidFill>
          <a:ln w="12700">
            <a:solidFill>
              <a:srgbClr val="2A2A2A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2606040" y="2121408"/>
            <a:ext cx="1463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513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4114800" y="2121408"/>
            <a:ext cx="1463040" cy="384048"/>
          </a:xfrm>
          <a:prstGeom prst="rect">
            <a:avLst/>
          </a:prstGeom>
          <a:solidFill>
            <a:srgbClr val="1A1A1A"/>
          </a:solidFill>
          <a:ln w="12700">
            <a:solidFill>
              <a:srgbClr val="2A2A2A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114800" y="2121408"/>
            <a:ext cx="1463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~200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5623560" y="2121408"/>
            <a:ext cx="1371600" cy="384048"/>
          </a:xfrm>
          <a:prstGeom prst="rect">
            <a:avLst/>
          </a:prstGeom>
          <a:solidFill>
            <a:srgbClr val="1A1A1A"/>
          </a:solidFill>
          <a:ln w="12700">
            <a:solidFill>
              <a:srgbClr val="2A2A2A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5623560" y="2121408"/>
            <a:ext cx="1371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$0,000038</a:t>
            </a:r>
            <a:endParaRPr lang="en-US" sz="1100" dirty="0"/>
          </a:p>
        </p:txBody>
      </p:sp>
      <p:sp>
        <p:nvSpPr>
          <p:cNvPr id="34" name="Shape 32"/>
          <p:cNvSpPr/>
          <p:nvPr/>
        </p:nvSpPr>
        <p:spPr>
          <a:xfrm>
            <a:off x="7040880" y="2121408"/>
            <a:ext cx="1371600" cy="384048"/>
          </a:xfrm>
          <a:prstGeom prst="rect">
            <a:avLst/>
          </a:prstGeom>
          <a:solidFill>
            <a:srgbClr val="1A1A1A"/>
          </a:solidFill>
          <a:ln w="12700">
            <a:solidFill>
              <a:srgbClr val="2A2A2A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7040880" y="2121408"/>
            <a:ext cx="1371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$0,000098</a:t>
            </a:r>
            <a:endParaRPr lang="en-US" sz="1100" dirty="0"/>
          </a:p>
        </p:txBody>
      </p:sp>
      <p:sp>
        <p:nvSpPr>
          <p:cNvPr id="36" name="Shape 34"/>
          <p:cNvSpPr/>
          <p:nvPr/>
        </p:nvSpPr>
        <p:spPr>
          <a:xfrm>
            <a:off x="274320" y="2505456"/>
            <a:ext cx="2286000" cy="384048"/>
          </a:xfrm>
          <a:prstGeom prst="rect">
            <a:avLst/>
          </a:prstGeom>
          <a:solidFill>
            <a:srgbClr val="141414"/>
          </a:solidFill>
          <a:ln w="12700">
            <a:solidFill>
              <a:srgbClr val="2A2A2A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274320" y="2505456"/>
            <a:ext cx="2286000" cy="384048"/>
          </a:xfrm>
          <a:prstGeom prst="rect">
            <a:avLst/>
          </a:prstGeom>
          <a:noFill/>
          <a:ln/>
        </p:spPr>
        <p:txBody>
          <a:bodyPr wrap="square" lIns="0" tIns="7620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 — Few-Shot + JSON</a:t>
            </a:r>
            <a:endParaRPr lang="en-US" sz="1000" dirty="0"/>
          </a:p>
        </p:txBody>
      </p:sp>
      <p:sp>
        <p:nvSpPr>
          <p:cNvPr id="38" name="Shape 36"/>
          <p:cNvSpPr/>
          <p:nvPr/>
        </p:nvSpPr>
        <p:spPr>
          <a:xfrm>
            <a:off x="2606040" y="2505456"/>
            <a:ext cx="1463040" cy="384048"/>
          </a:xfrm>
          <a:prstGeom prst="rect">
            <a:avLst/>
          </a:prstGeom>
          <a:solidFill>
            <a:srgbClr val="141414"/>
          </a:solidFill>
          <a:ln w="12700">
            <a:solidFill>
              <a:srgbClr val="2A2A2A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2606040" y="2505456"/>
            <a:ext cx="1463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510</a:t>
            </a:r>
            <a:endParaRPr lang="en-US" sz="1100" dirty="0"/>
          </a:p>
        </p:txBody>
      </p:sp>
      <p:sp>
        <p:nvSpPr>
          <p:cNvPr id="40" name="Shape 38"/>
          <p:cNvSpPr/>
          <p:nvPr/>
        </p:nvSpPr>
        <p:spPr>
          <a:xfrm>
            <a:off x="4114800" y="2505456"/>
            <a:ext cx="1463040" cy="384048"/>
          </a:xfrm>
          <a:prstGeom prst="rect">
            <a:avLst/>
          </a:prstGeom>
          <a:solidFill>
            <a:srgbClr val="141414"/>
          </a:solidFill>
          <a:ln w="12700">
            <a:solidFill>
              <a:srgbClr val="2A2A2A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4114800" y="2505456"/>
            <a:ext cx="1463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~200</a:t>
            </a:r>
            <a:endParaRPr lang="en-US" sz="1100" dirty="0"/>
          </a:p>
        </p:txBody>
      </p:sp>
      <p:sp>
        <p:nvSpPr>
          <p:cNvPr id="42" name="Shape 40"/>
          <p:cNvSpPr/>
          <p:nvPr/>
        </p:nvSpPr>
        <p:spPr>
          <a:xfrm>
            <a:off x="5623560" y="2505456"/>
            <a:ext cx="1371600" cy="384048"/>
          </a:xfrm>
          <a:prstGeom prst="rect">
            <a:avLst/>
          </a:prstGeom>
          <a:solidFill>
            <a:srgbClr val="141414"/>
          </a:solidFill>
          <a:ln w="12700">
            <a:solidFill>
              <a:srgbClr val="2A2A2A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5623560" y="2505456"/>
            <a:ext cx="1371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$0,000038</a:t>
            </a:r>
            <a:endParaRPr lang="en-US" sz="1100" dirty="0"/>
          </a:p>
        </p:txBody>
      </p:sp>
      <p:sp>
        <p:nvSpPr>
          <p:cNvPr id="44" name="Shape 42"/>
          <p:cNvSpPr/>
          <p:nvPr/>
        </p:nvSpPr>
        <p:spPr>
          <a:xfrm>
            <a:off x="7040880" y="2505456"/>
            <a:ext cx="1371600" cy="384048"/>
          </a:xfrm>
          <a:prstGeom prst="rect">
            <a:avLst/>
          </a:prstGeom>
          <a:solidFill>
            <a:srgbClr val="141414"/>
          </a:solidFill>
          <a:ln w="12700">
            <a:solidFill>
              <a:srgbClr val="2A2A2A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7040880" y="2505456"/>
            <a:ext cx="1371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$0,000098</a:t>
            </a:r>
            <a:endParaRPr lang="en-US" sz="1100" dirty="0"/>
          </a:p>
        </p:txBody>
      </p:sp>
      <p:sp>
        <p:nvSpPr>
          <p:cNvPr id="46" name="Shape 44"/>
          <p:cNvSpPr/>
          <p:nvPr/>
        </p:nvSpPr>
        <p:spPr>
          <a:xfrm>
            <a:off x="274320" y="2889504"/>
            <a:ext cx="2286000" cy="384048"/>
          </a:xfrm>
          <a:prstGeom prst="rect">
            <a:avLst/>
          </a:prstGeom>
          <a:solidFill>
            <a:srgbClr val="2A1A00"/>
          </a:solidFill>
          <a:ln w="12700">
            <a:solidFill>
              <a:srgbClr val="2A2A2A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274320" y="2889504"/>
            <a:ext cx="2286000" cy="384048"/>
          </a:xfrm>
          <a:prstGeom prst="rect">
            <a:avLst/>
          </a:prstGeom>
          <a:noFill/>
          <a:ln/>
        </p:spPr>
        <p:txBody>
          <a:bodyPr wrap="square" lIns="0" tIns="7620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F6B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TOTAL DA SESSÃO</a:t>
            </a:r>
            <a:endParaRPr lang="en-US" sz="1000" dirty="0"/>
          </a:p>
        </p:txBody>
      </p:sp>
      <p:sp>
        <p:nvSpPr>
          <p:cNvPr id="48" name="Shape 46"/>
          <p:cNvSpPr/>
          <p:nvPr/>
        </p:nvSpPr>
        <p:spPr>
          <a:xfrm>
            <a:off x="2606040" y="2889504"/>
            <a:ext cx="1463040" cy="384048"/>
          </a:xfrm>
          <a:prstGeom prst="rect">
            <a:avLst/>
          </a:prstGeom>
          <a:solidFill>
            <a:srgbClr val="2A1A00"/>
          </a:solidFill>
          <a:ln w="12700">
            <a:solidFill>
              <a:srgbClr val="2A2A2A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2606040" y="2889504"/>
            <a:ext cx="1463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6B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2.481</a:t>
            </a:r>
            <a:endParaRPr lang="en-US" sz="1100" dirty="0"/>
          </a:p>
        </p:txBody>
      </p:sp>
      <p:sp>
        <p:nvSpPr>
          <p:cNvPr id="50" name="Shape 48"/>
          <p:cNvSpPr/>
          <p:nvPr/>
        </p:nvSpPr>
        <p:spPr>
          <a:xfrm>
            <a:off x="4114800" y="2889504"/>
            <a:ext cx="1463040" cy="384048"/>
          </a:xfrm>
          <a:prstGeom prst="rect">
            <a:avLst/>
          </a:prstGeom>
          <a:solidFill>
            <a:srgbClr val="2A1A00"/>
          </a:solidFill>
          <a:ln w="12700">
            <a:solidFill>
              <a:srgbClr val="2A2A2A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4114800" y="2889504"/>
            <a:ext cx="1463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6B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~600</a:t>
            </a:r>
            <a:endParaRPr lang="en-US" sz="1100" dirty="0"/>
          </a:p>
        </p:txBody>
      </p:sp>
      <p:sp>
        <p:nvSpPr>
          <p:cNvPr id="52" name="Shape 50"/>
          <p:cNvSpPr/>
          <p:nvPr/>
        </p:nvSpPr>
        <p:spPr>
          <a:xfrm>
            <a:off x="5623560" y="2889504"/>
            <a:ext cx="1371600" cy="384048"/>
          </a:xfrm>
          <a:prstGeom prst="rect">
            <a:avLst/>
          </a:prstGeom>
          <a:solidFill>
            <a:srgbClr val="2A1A00"/>
          </a:solidFill>
          <a:ln w="12700">
            <a:solidFill>
              <a:srgbClr val="2A2A2A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5623560" y="2889504"/>
            <a:ext cx="1371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6B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$0,000185</a:t>
            </a:r>
            <a:endParaRPr lang="en-US" sz="1100" dirty="0"/>
          </a:p>
        </p:txBody>
      </p:sp>
      <p:sp>
        <p:nvSpPr>
          <p:cNvPr id="54" name="Shape 52"/>
          <p:cNvSpPr/>
          <p:nvPr/>
        </p:nvSpPr>
        <p:spPr>
          <a:xfrm>
            <a:off x="7040880" y="2889504"/>
            <a:ext cx="1371600" cy="384048"/>
          </a:xfrm>
          <a:prstGeom prst="rect">
            <a:avLst/>
          </a:prstGeom>
          <a:solidFill>
            <a:srgbClr val="2A1A00"/>
          </a:solidFill>
          <a:ln w="12700">
            <a:solidFill>
              <a:srgbClr val="2A2A2A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7040880" y="2889504"/>
            <a:ext cx="1371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6B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$0,000365</a:t>
            </a:r>
            <a:endParaRPr lang="en-US" sz="1100" dirty="0"/>
          </a:p>
        </p:txBody>
      </p:sp>
      <p:sp>
        <p:nvSpPr>
          <p:cNvPr id="56" name="Text 54"/>
          <p:cNvSpPr/>
          <p:nvPr/>
        </p:nvSpPr>
        <p:spPr>
          <a:xfrm>
            <a:off x="457200" y="425196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AAA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Fórmula: custo = (tokens_input / 1.000.000) × $0,075 + (tokens_output / 1.000.000) × $0,30</a:t>
            </a:r>
            <a:endParaRPr lang="en-US" sz="1000" dirty="0"/>
          </a:p>
        </p:txBody>
      </p:sp>
      <p:sp>
        <p:nvSpPr>
          <p:cNvPr id="57" name="Text 55"/>
          <p:cNvSpPr/>
          <p:nvPr/>
        </p:nvSpPr>
        <p:spPr>
          <a:xfrm>
            <a:off x="457200" y="4526280"/>
            <a:ext cx="8229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* Cálculo hipotético — free tier utilizado (custo real = $0)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D0D0D"/>
          </a:solidFill>
          <a:ln w="12700">
            <a:solidFill>
              <a:srgbClr val="0D0D0D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74320"/>
            <a:ext cx="2286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00" b="1" spc="200" kern="0" dirty="0">
                <a:solidFill>
                  <a:srgbClr val="FF6B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CONCLUSÃO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457200" y="50292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 que os experimentos nos mostraram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457200" y="1188720"/>
            <a:ext cx="2651760" cy="2377440"/>
          </a:xfrm>
          <a:prstGeom prst="roundRect">
            <a:avLst>
              <a:gd name="adj" fmla="val 3846"/>
            </a:avLst>
          </a:prstGeom>
          <a:solidFill>
            <a:srgbClr val="1A1A1A"/>
          </a:solidFill>
          <a:ln w="12700">
            <a:solidFill>
              <a:srgbClr val="2A2A2A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" y="1188720"/>
            <a:ext cx="2651760" cy="36576"/>
          </a:xfrm>
          <a:prstGeom prst="rect">
            <a:avLst/>
          </a:prstGeom>
          <a:solidFill>
            <a:srgbClr val="FF6B00"/>
          </a:solidFill>
          <a:ln w="12700">
            <a:solidFill>
              <a:srgbClr val="FF6B0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1325880"/>
            <a:ext cx="26517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6B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65%</a:t>
            </a:r>
            <a:endParaRPr lang="en-US" sz="3600" dirty="0"/>
          </a:p>
        </p:txBody>
      </p:sp>
      <p:sp>
        <p:nvSpPr>
          <p:cNvPr id="8" name="Text 6"/>
          <p:cNvSpPr/>
          <p:nvPr/>
        </p:nvSpPr>
        <p:spPr>
          <a:xfrm>
            <a:off x="594360" y="2194560"/>
            <a:ext cx="23774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AAAA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redução nos tokens de input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AAAA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usando contexto cirúrgico vs. inflado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3383280" y="1188720"/>
            <a:ext cx="2651760" cy="2377440"/>
          </a:xfrm>
          <a:prstGeom prst="roundRect">
            <a:avLst>
              <a:gd name="adj" fmla="val 3846"/>
            </a:avLst>
          </a:prstGeom>
          <a:solidFill>
            <a:srgbClr val="1A1A1A"/>
          </a:solidFill>
          <a:ln w="12700">
            <a:solidFill>
              <a:srgbClr val="2A2A2A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383280" y="1188720"/>
            <a:ext cx="2651760" cy="36576"/>
          </a:xfrm>
          <a:prstGeom prst="rect">
            <a:avLst/>
          </a:prstGeom>
          <a:solidFill>
            <a:srgbClr val="FF6B00"/>
          </a:solidFill>
          <a:ln w="12700">
            <a:solidFill>
              <a:srgbClr val="FF6B0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383280" y="1325880"/>
            <a:ext cx="26517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6B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= ✓</a:t>
            </a:r>
            <a:endParaRPr lang="en-US" sz="3600" dirty="0"/>
          </a:p>
        </p:txBody>
      </p:sp>
      <p:sp>
        <p:nvSpPr>
          <p:cNvPr id="12" name="Text 10"/>
          <p:cNvSpPr/>
          <p:nvPr/>
        </p:nvSpPr>
        <p:spPr>
          <a:xfrm>
            <a:off x="3520440" y="2194560"/>
            <a:ext cx="23774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AAAA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Qualidade de resposta idêntica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AAAA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nas três chamadas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6309360" y="1188720"/>
            <a:ext cx="2651760" cy="2377440"/>
          </a:xfrm>
          <a:prstGeom prst="roundRect">
            <a:avLst>
              <a:gd name="adj" fmla="val 3846"/>
            </a:avLst>
          </a:prstGeom>
          <a:solidFill>
            <a:srgbClr val="1A1A1A"/>
          </a:solidFill>
          <a:ln w="12700">
            <a:solidFill>
              <a:srgbClr val="2A2A2A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309360" y="1188720"/>
            <a:ext cx="2651760" cy="36576"/>
          </a:xfrm>
          <a:prstGeom prst="rect">
            <a:avLst/>
          </a:prstGeom>
          <a:solidFill>
            <a:srgbClr val="FF6B00"/>
          </a:solidFill>
          <a:ln w="12700">
            <a:solidFill>
              <a:srgbClr val="FF6B0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309360" y="1325880"/>
            <a:ext cx="26517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6B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RB</a:t>
            </a:r>
            <a:endParaRPr lang="en-US" sz="3600" dirty="0"/>
          </a:p>
        </p:txBody>
      </p:sp>
      <p:sp>
        <p:nvSpPr>
          <p:cNvPr id="16" name="Text 14"/>
          <p:cNvSpPr/>
          <p:nvPr/>
        </p:nvSpPr>
        <p:spPr>
          <a:xfrm>
            <a:off x="6446520" y="2194560"/>
            <a:ext cx="23774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AAAA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Cada regra do system prompt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AAAA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rastreável ao documento oficial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274320" y="3749040"/>
            <a:ext cx="8595360" cy="777240"/>
          </a:xfrm>
          <a:prstGeom prst="roundRect">
            <a:avLst>
              <a:gd name="adj" fmla="val 5882"/>
            </a:avLst>
          </a:prstGeom>
          <a:solidFill>
            <a:srgbClr val="1A1000"/>
          </a:solidFill>
          <a:ln w="12700">
            <a:solidFill>
              <a:srgbClr val="FF6B0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57200" y="3794760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6B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Conclusão: contexto bem curado economiza tokens e custo sem perder qualidade.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FF6B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Few-shot calibra formato e qualidade das justificativas — principal lição de Engenharia de Prompt.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2026-08-19T23:50:31Z</dcterms:created>
  <dcterms:modified xsi:type="dcterms:W3CDTF">2026-08-19T23:50:31Z</dcterms:modified>
</cp:coreProperties>
</file>